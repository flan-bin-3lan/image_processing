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handoutMasterIdLst>
    <p:handoutMasterId r:id="rId27"/>
  </p:handoutMasterIdLst>
  <p:sldIdLst>
    <p:sldId id="256" r:id="rId5"/>
    <p:sldId id="298" r:id="rId6"/>
    <p:sldId id="299" r:id="rId7"/>
    <p:sldId id="300" r:id="rId8"/>
    <p:sldId id="271" r:id="rId9"/>
    <p:sldId id="288" r:id="rId10"/>
    <p:sldId id="281" r:id="rId11"/>
    <p:sldId id="279" r:id="rId12"/>
    <p:sldId id="295" r:id="rId13"/>
    <p:sldId id="289" r:id="rId14"/>
    <p:sldId id="290" r:id="rId15"/>
    <p:sldId id="293" r:id="rId16"/>
    <p:sldId id="294" r:id="rId17"/>
    <p:sldId id="280" r:id="rId18"/>
    <p:sldId id="257" r:id="rId19"/>
    <p:sldId id="284" r:id="rId20"/>
    <p:sldId id="296" r:id="rId21"/>
    <p:sldId id="285" r:id="rId22"/>
    <p:sldId id="302" r:id="rId23"/>
    <p:sldId id="303" r:id="rId24"/>
    <p:sldId id="28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Body" id="{B9B51309-D148-4332-87C2-07BE32FBCA3B}">
          <p14:sldIdLst>
            <p14:sldId id="298"/>
            <p14:sldId id="299"/>
            <p14:sldId id="300"/>
            <p14:sldId id="271"/>
            <p14:sldId id="288"/>
            <p14:sldId id="281"/>
            <p14:sldId id="279"/>
            <p14:sldId id="295"/>
            <p14:sldId id="289"/>
            <p14:sldId id="290"/>
            <p14:sldId id="293"/>
            <p14:sldId id="294"/>
            <p14:sldId id="280"/>
            <p14:sldId id="257"/>
            <p14:sldId id="284"/>
            <p14:sldId id="296"/>
            <p14:sldId id="285"/>
            <p14:sldId id="302"/>
            <p14:sldId id="303"/>
          </p14:sldIdLst>
        </p14:section>
        <p14:section name="Learn More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4E32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511418-E244-0F40-25F7-2E418C8300E3}" v="4" dt="2026-01-24T16:58:01.500"/>
    <p1510:client id="{31828E36-66A0-AC41-9F65-0AF01EA07454}" v="61" dt="2026-01-24T16:58:55.287"/>
    <p1510:client id="{B023B3E0-BC1D-5176-E386-A780583979C8}" v="27" dt="2026-01-24T16:47:16.667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Computer Engineering Department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Computer Engineering Department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59B31-96B8-05B5-B4F0-BAD796F79F1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CE64-8AC6-9838-424E-5A4870AB6F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1026350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EBCC-5C6F-6D54-70BE-73F24963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08B3D-5731-11CB-4553-F20D764E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F8528-1097-E012-0470-5267B95F5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360DA-38F9-8A81-2DD0-886A6C11F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EFFB6-A9A4-CEC6-6FBC-E633375760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3072831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D645-9F16-2379-2C94-65E69BE2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EAAADA-B575-A83B-E215-B8F6E991B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D8B99-7726-6A1B-A496-DCB6B6EB8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7BCEC-8CF2-0896-22A6-AFA1F9A5C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052B4-5853-F91B-80FB-13A235610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31512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0DF7-B94E-7817-FA86-9DA7C6098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9B1471-D40A-7CB0-C8CE-A81999BD0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056EB-E566-1DA9-1566-A441ACCA98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37DA3-1E10-371C-DF09-AB0482CFD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6DC72-DAF3-121F-2331-42F2DC1AE2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1670618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61F79-6639-E6A9-7CBF-94E7B5CB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F3AA1-86D5-85E9-B214-226D99BD8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54F395-B624-9D4A-89E2-B732A04CD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BCBE-537C-A07C-4868-74BB96D87D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3B19-9B97-EA69-F3EF-0B8B72405A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4251195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8BACF-0195-D965-0025-2E8B3DC27F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F14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F14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Computer Engineering Department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Computer Engineering Department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6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F14E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Computer Engineering Department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F14E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env/pyen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pypi.org/project/pandas/2.2.3/" TargetMode="External"/><Relationship Id="rId4" Type="http://schemas.openxmlformats.org/officeDocument/2006/relationships/hyperlink" Target="https://pypi.org/project/pandas/1.4.4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ion.so/Setup-instructions-for-mac-2e75ea763bc88012a4c9f59b5bd92739?source=copy_lin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www.notion.so/Setup-instructions-for-Windows-2f15ea763bc880228a34c81ea20380bc?source=copy_link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cs.github.com/en/get-started/writing-on-github/getting-started-with-writing-and-formatting-on-github/basic-writing-and-formatting-syntax" TargetMode="External"/><Relationship Id="rId5" Type="http://schemas.openxmlformats.org/officeDocument/2006/relationships/hyperlink" Target="https://docs.github.com/en/desktop/overview/about-github-desktop" TargetMode="External"/><Relationship Id="rId4" Type="http://schemas.openxmlformats.org/officeDocument/2006/relationships/hyperlink" Target="https://skills.githu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GB" sz="4800" b="1">
                <a:solidFill>
                  <a:schemeClr val="bg1"/>
                </a:solidFill>
              </a:rPr>
              <a:t>Git, GitHub, and </a:t>
            </a:r>
            <a:r>
              <a:rPr lang="en-US" sz="4800" b="1">
                <a:solidFill>
                  <a:schemeClr val="bg1"/>
                </a:solidFill>
              </a:rPr>
              <a:t>Terminal</a:t>
            </a:r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>
            <a:normAutofit/>
          </a:bodyPr>
          <a:lstStyle/>
          <a:p>
            <a:r>
              <a:rPr lang="en-US" sz="2400" i="1">
                <a:solidFill>
                  <a:schemeClr val="bg1"/>
                </a:solidFill>
              </a:rPr>
              <a:t>An Introduction</a:t>
            </a: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026" name="Picture 2" descr="Of Git and GitHub, Master and Main - BiTE Interactive">
            <a:extLst>
              <a:ext uri="{FF2B5EF4-FFF2-40B4-BE49-F238E27FC236}">
                <a16:creationId xmlns:a16="http://schemas.microsoft.com/office/drawing/2014/main" id="{1A9BF9A1-BEA5-BD56-2E7A-C84FB5B91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0518" y="3502001"/>
            <a:ext cx="3607707" cy="270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9C25C8-751F-1788-03F6-77BE756D08C6}"/>
              </a:ext>
            </a:extLst>
          </p:cNvPr>
          <p:cNvSpPr txBox="1"/>
          <p:nvPr/>
        </p:nvSpPr>
        <p:spPr>
          <a:xfrm>
            <a:off x="391775" y="4556773"/>
            <a:ext cx="6914367" cy="18897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>
                <a:solidFill>
                  <a:schemeClr val="bg1"/>
                </a:solidFill>
              </a:rPr>
              <a:t>Imam Abdulrahman Bin Faisal University </a:t>
            </a:r>
            <a:endParaRPr lang="en-US" sz="1600" b="1">
              <a:solidFill>
                <a:schemeClr val="bg1"/>
              </a:solidFill>
              <a:cs typeface="Segoe UI"/>
            </a:endParaRPr>
          </a:p>
          <a:p>
            <a:r>
              <a:rPr lang="en-US" sz="1600" i="1">
                <a:solidFill>
                  <a:schemeClr val="bg1"/>
                </a:solidFill>
              </a:rPr>
              <a:t>College of Computer Science and Information Technology</a:t>
            </a:r>
            <a:endParaRPr lang="en-US" sz="1600" i="1">
              <a:solidFill>
                <a:schemeClr val="bg1"/>
              </a:solidFill>
              <a:cs typeface="Segoe UI"/>
            </a:endParaRPr>
          </a:p>
          <a:p>
            <a:r>
              <a:rPr lang="en-US" sz="1600">
                <a:solidFill>
                  <a:schemeClr val="bg1"/>
                </a:solidFill>
              </a:rPr>
              <a:t>Teaching Assistant in Computer Engineering Department</a:t>
            </a:r>
            <a:endParaRPr lang="en-US" sz="1600">
              <a:solidFill>
                <a:schemeClr val="bg1"/>
              </a:solidFill>
              <a:cs typeface="Segoe UI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Ms. Rema </a:t>
            </a:r>
            <a:r>
              <a:rPr lang="en-US" sz="1600" err="1">
                <a:solidFill>
                  <a:schemeClr val="bg1"/>
                </a:solidFill>
              </a:rPr>
              <a:t>Alnssiry</a:t>
            </a:r>
            <a:r>
              <a:rPr lang="en-US" sz="1600">
                <a:solidFill>
                  <a:schemeClr val="bg1"/>
                </a:solidFill>
              </a:rPr>
              <a:t>  </a:t>
            </a:r>
            <a:endParaRPr lang="en-US" sz="1600">
              <a:solidFill>
                <a:schemeClr val="bg1"/>
              </a:solidFill>
              <a:cs typeface="Segoe UI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Ms. Somiah </a:t>
            </a:r>
            <a:r>
              <a:rPr lang="en-US" sz="1600" err="1">
                <a:solidFill>
                  <a:schemeClr val="bg1"/>
                </a:solidFill>
              </a:rPr>
              <a:t>Aljaafary</a:t>
            </a:r>
            <a:endParaRPr lang="en-US" sz="1600">
              <a:solidFill>
                <a:schemeClr val="bg1"/>
              </a:solidFill>
              <a:cs typeface="Segoe UI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Ms. Hind Alzahrani</a:t>
            </a:r>
            <a:endParaRPr lang="en-US" sz="1600">
              <a:solidFill>
                <a:schemeClr val="bg1"/>
              </a:solidFill>
              <a:cs typeface="Segoe UI"/>
            </a:endParaRPr>
          </a:p>
          <a:p>
            <a:r>
              <a:rPr lang="en-US" sz="1600" i="1">
                <a:solidFill>
                  <a:schemeClr val="bg1"/>
                </a:solidFill>
              </a:rPr>
              <a:t>V1 - 2026</a:t>
            </a:r>
            <a:endParaRPr lang="en-SA" sz="1600">
              <a:solidFill>
                <a:schemeClr val="bg1"/>
              </a:solidFill>
              <a:cs typeface="Segoe UI"/>
            </a:endParaRPr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40B709A5-6847-28E8-7D7D-AD25DEA76E67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0154652" y="435480"/>
            <a:ext cx="1642269" cy="1054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95F1-3EFD-2831-FB91-277B6328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717C37-A1ED-D209-809B-372ED684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	</a:t>
            </a:r>
            <a:br>
              <a:rPr lang="en-US" sz="3600" b="1">
                <a:latin typeface="Aptos" panose="020B0004020202020204" pitchFamily="34" charset="0"/>
              </a:rPr>
            </a:br>
            <a:br>
              <a:rPr lang="en-US" sz="3600" b="1">
                <a:latin typeface="Aptos" panose="020B0004020202020204" pitchFamily="34" charset="0"/>
              </a:rPr>
            </a:br>
            <a:r>
              <a:rPr lang="en-US" sz="3600" b="1">
                <a:latin typeface="Aptos" panose="020B0004020202020204" pitchFamily="34" charset="0"/>
              </a:rPr>
              <a:t>Terminal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D644C4-5B2F-0419-5747-6A2187BB2208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41609" y="1431010"/>
            <a:ext cx="11103219" cy="199799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Surviving in the terminal:</a:t>
            </a:r>
          </a:p>
          <a:p>
            <a:br>
              <a:rPr lang="en-US"/>
            </a:br>
            <a:endParaRPr lang="en-US"/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GB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8" name="Picture 4" descr="The terminal text interface allows us to interact with the shell that executes the commands we type after the prompt. Oh My Zsh makes our shell prettier and more powerful">
            <a:extLst>
              <a:ext uri="{FF2B5EF4-FFF2-40B4-BE49-F238E27FC236}">
                <a16:creationId xmlns:a16="http://schemas.microsoft.com/office/drawing/2014/main" id="{06DB7EAB-8A4E-EF8C-F98E-B31B06C50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6507" y="2246218"/>
            <a:ext cx="5491590" cy="3868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F3A97D-28AB-72A3-8806-5F518E4F3F88}"/>
              </a:ext>
            </a:extLst>
          </p:cNvPr>
          <p:cNvSpPr txBox="1"/>
          <p:nvPr/>
        </p:nvSpPr>
        <p:spPr>
          <a:xfrm>
            <a:off x="640463" y="2541216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err="1">
                <a:effectLst/>
                <a:latin typeface="Courier New" panose="02070309020205020404" pitchFamily="49" charset="0"/>
              </a:rPr>
              <a:t>pwd</a:t>
            </a:r>
            <a:endParaRPr lang="en-US" i="0"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Courier New" panose="02070309020205020404" pitchFamily="49" charset="0"/>
              </a:rPr>
              <a:t>ls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-l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err="1">
                <a:effectLst/>
                <a:latin typeface="Courier New" panose="02070309020205020404" pitchFamily="49" charset="0"/>
              </a:rPr>
              <a:t>mkdir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&lt;directory&gt;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Courier New" panose="02070309020205020404" pitchFamily="49" charset="0"/>
              </a:rPr>
              <a:t>cd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&lt;path&gt;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Courier New" panose="02070309020205020404" pitchFamily="49" charset="0"/>
              </a:rPr>
              <a:t>touch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&lt;file&gt;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Courier New" panose="02070309020205020404" pitchFamily="49" charset="0"/>
              </a:rPr>
              <a:t>rm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&lt;file&gt;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rm -r &lt;directory&gt;</a:t>
            </a:r>
            <a:endParaRPr lang="en-US" i="0"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Courier New" panose="02070309020205020404" pitchFamily="49" charset="0"/>
              </a:rPr>
              <a:t>mv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&lt;from&gt;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&lt;to&gt;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40C5242-B9A6-189A-5CD4-C19541D68D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5DCE8D17-5773-67D6-B266-E845638FEBF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4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B241-4F90-19EB-71CA-E67222B73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1947B3-5035-D267-DE4C-5AF1C7B7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	</a:t>
            </a:r>
            <a:br>
              <a:rPr lang="en-US" sz="3600" b="1">
                <a:latin typeface="Aptos" panose="020B0004020202020204" pitchFamily="34" charset="0"/>
              </a:rPr>
            </a:br>
            <a:r>
              <a:rPr lang="en-US" sz="3600" b="1">
                <a:latin typeface="Aptos" panose="020B0004020202020204" pitchFamily="34" charset="0"/>
              </a:rPr>
              <a:t>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0C7BC8-9032-111B-B857-4B53C9325B8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1819" y="1646658"/>
            <a:ext cx="11103219" cy="199799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We used 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pyenv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 to install and manage multiple Python versions.</a:t>
            </a:r>
          </a:p>
          <a:p>
            <a:br>
              <a:rPr lang="en-US"/>
            </a:br>
            <a:endParaRPr lang="en-US"/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GB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A945E-8362-E87B-4327-0316DAD76BE3}"/>
              </a:ext>
            </a:extLst>
          </p:cNvPr>
          <p:cNvSpPr txBox="1"/>
          <p:nvPr/>
        </p:nvSpPr>
        <p:spPr>
          <a:xfrm>
            <a:off x="651819" y="2069516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err="1">
                <a:effectLst/>
                <a:latin typeface="Courier New" panose="02070309020205020404" pitchFamily="49" charset="0"/>
              </a:rPr>
              <a:t>pyenv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versions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err="1">
                <a:effectLst/>
                <a:latin typeface="Courier New" panose="02070309020205020404" pitchFamily="49" charset="0"/>
              </a:rPr>
              <a:t>pyenv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install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&lt;version&gt;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0" err="1">
                <a:effectLst/>
                <a:latin typeface="Courier New" panose="02070309020205020404" pitchFamily="49" charset="0"/>
              </a:rPr>
              <a:t>pyenv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global</a:t>
            </a:r>
            <a:r>
              <a:rPr lang="en-US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i="0">
                <a:effectLst/>
                <a:latin typeface="Courier New" panose="02070309020205020404" pitchFamily="49" charset="0"/>
              </a:rPr>
              <a:t>&lt;version&gt;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F5B549-A1F4-2F4B-3EE9-467584524F61}"/>
              </a:ext>
            </a:extLst>
          </p:cNvPr>
          <p:cNvSpPr txBox="1"/>
          <p:nvPr/>
        </p:nvSpPr>
        <p:spPr>
          <a:xfrm>
            <a:off x="519090" y="3013233"/>
            <a:ext cx="6098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96"/>
              </a:spcBef>
              <a:spcAft>
                <a:spcPts val="1728"/>
              </a:spcAft>
              <a:buNone/>
            </a:pPr>
            <a:r>
              <a:rPr lang="en-US" sz="24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</a:t>
            </a:r>
            <a:endParaRPr 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A9F7F9-C8C5-AE7D-D941-E3F7F009EE87}"/>
              </a:ext>
            </a:extLst>
          </p:cNvPr>
          <p:cNvSpPr txBox="1"/>
          <p:nvPr/>
        </p:nvSpPr>
        <p:spPr>
          <a:xfrm>
            <a:off x="651819" y="1322009"/>
            <a:ext cx="4179673" cy="1233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96"/>
              </a:spcBef>
              <a:spcAft>
                <a:spcPts val="1728"/>
              </a:spcAft>
              <a:buNone/>
            </a:pPr>
            <a:r>
              <a:rPr lang="en-US" sz="2400" b="1" err="1">
                <a:solidFill>
                  <a:schemeClr val="tx1">
                    <a:lumMod val="75000"/>
                    <a:lumOff val="25000"/>
                  </a:schemeClr>
                </a:solidFill>
              </a:rPr>
              <a:t>pyenv</a:t>
            </a:r>
            <a:endParaRPr 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None/>
            </a:pPr>
            <a:br>
              <a:rPr lang="en-US"/>
            </a:br>
            <a:endParaRPr lang="en-S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4CBB6-ECFB-9CF1-74FE-5E166C071D8F}"/>
              </a:ext>
            </a:extLst>
          </p:cNvPr>
          <p:cNvSpPr txBox="1"/>
          <p:nvPr/>
        </p:nvSpPr>
        <p:spPr>
          <a:xfrm>
            <a:off x="651819" y="3429000"/>
            <a:ext cx="60980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 err="1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pyenv</a:t>
            </a: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err="1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virtualenvs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/>
            </a:br>
            <a:endParaRPr lang="en-S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62A90F-ADEB-980A-12A1-F3D7B8A447EA}"/>
              </a:ext>
            </a:extLst>
          </p:cNvPr>
          <p:cNvSpPr txBox="1"/>
          <p:nvPr/>
        </p:nvSpPr>
        <p:spPr>
          <a:xfrm>
            <a:off x="651819" y="3862654"/>
            <a:ext cx="79979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A safe place to </a:t>
            </a:r>
            <a:r>
              <a:rPr lang="en-US">
                <a:latin typeface="Courier New" panose="02070309020205020404" pitchFamily="49" charset="0"/>
              </a:rPr>
              <a:t>pip install &lt;package&gt;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 without interfering with other tools.</a:t>
            </a:r>
          </a:p>
          <a:p>
            <a:pPr algn="l">
              <a:buNone/>
            </a:pPr>
            <a:b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8944E-3A95-E2EC-DA84-53CC4F976136}"/>
              </a:ext>
            </a:extLst>
          </p:cNvPr>
          <p:cNvSpPr txBox="1"/>
          <p:nvPr/>
        </p:nvSpPr>
        <p:spPr>
          <a:xfrm>
            <a:off x="519090" y="4308024"/>
            <a:ext cx="7134313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96"/>
              </a:spcBef>
              <a:spcAft>
                <a:spcPts val="1728"/>
              </a:spcAft>
              <a:buNone/>
            </a:pP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Real</a:t>
            </a:r>
            <a:r>
              <a:rPr lang="en-US" b="1" i="0">
                <a:solidFill>
                  <a:srgbClr val="000000"/>
                </a:solidFill>
                <a:effectLst/>
                <a:latin typeface="News Cycle"/>
              </a:rPr>
              <a:t> </a:t>
            </a:r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situation:</a:t>
            </a:r>
          </a:p>
          <a:p>
            <a:pPr algn="l">
              <a:spcBef>
                <a:spcPts val="1296"/>
              </a:spcBef>
              <a:spcAft>
                <a:spcPts val="1728"/>
              </a:spcAft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Suppose you have Project A depending on 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pandas==1.4.4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 and Project B on 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pandas==2.2.3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, what can we do?</a:t>
            </a:r>
          </a:p>
          <a:p>
            <a:pPr algn="l">
              <a:spcBef>
                <a:spcPts val="1296"/>
              </a:spcBef>
              <a:spcAft>
                <a:spcPts val="1728"/>
              </a:spcAft>
              <a:buNone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You can isolate those dependencies in two different </a:t>
            </a:r>
            <a:r>
              <a:rPr lang="en-US" sz="1600" err="1">
                <a:solidFill>
                  <a:schemeClr val="tx1">
                    <a:lumMod val="75000"/>
                    <a:lumOff val="25000"/>
                  </a:schemeClr>
                </a:solidFill>
              </a:rPr>
              <a:t>virtualenvs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DB34C8E-0FCA-FBEB-98C4-0FBED5A3B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B237F9B8-AADA-B00A-1237-3B2F9F0867C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0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C28D-9730-2FED-B74D-6CE32E79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09944C-E71A-16DC-1E4C-A2AAE34D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	</a:t>
            </a:r>
            <a:br>
              <a:rPr lang="en-US" sz="3600" b="1">
                <a:latin typeface="Aptos" panose="020B0004020202020204" pitchFamily="34" charset="0"/>
              </a:rPr>
            </a:br>
            <a:r>
              <a:rPr lang="en-US" sz="3600" b="1">
                <a:latin typeface="Aptos" panose="020B0004020202020204" pitchFamily="34" charset="0"/>
              </a:rPr>
              <a:t>Python</a:t>
            </a:r>
          </a:p>
        </p:txBody>
      </p:sp>
      <p:pic>
        <p:nvPicPr>
          <p:cNvPr id="5124" name="Picture 4" descr="A Complete Guide to Python Virtual Environments (2022) – Dataquest">
            <a:extLst>
              <a:ext uri="{FF2B5EF4-FFF2-40B4-BE49-F238E27FC236}">
                <a16:creationId xmlns:a16="http://schemas.microsoft.com/office/drawing/2014/main" id="{C5EB0630-6BD5-7A39-6B83-E140AE9DA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334" y="1388908"/>
            <a:ext cx="8926286" cy="404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EB01F39-A7B1-A558-B26B-8EFD23655E1B}"/>
              </a:ext>
            </a:extLst>
          </p:cNvPr>
          <p:cNvSpPr txBox="1"/>
          <p:nvPr/>
        </p:nvSpPr>
        <p:spPr>
          <a:xfrm>
            <a:off x="1138334" y="5431514"/>
            <a:ext cx="8823044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In the first weeks we'll use only one virtual environment called ai.</a:t>
            </a:r>
          </a:p>
          <a:p>
            <a:pPr marL="285750" indent="-28575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</a:rPr>
              <a:t>It will be set by default when starting a new shell</a:t>
            </a:r>
            <a:r>
              <a:rPr lang="en-US">
                <a:effectLst/>
                <a:latin typeface="-apple-system"/>
              </a:rPr>
              <a:t>.</a:t>
            </a:r>
          </a:p>
          <a:p>
            <a:pPr algn="l">
              <a:buNone/>
            </a:pPr>
            <a:br>
              <a:rPr lang="en-US" b="0" i="0">
                <a:effectLst/>
                <a:latin typeface="-apple-system"/>
              </a:rPr>
            </a:br>
            <a:endParaRPr lang="en-US" b="0" i="0">
              <a:effectLst/>
              <a:latin typeface="-apple-system"/>
            </a:endParaRP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9C624E70-C2FA-83A0-F626-CCA4B377C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3CD15EEF-67DE-11FD-82DC-4EB630EDBBE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4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What Is Version Control?</a:t>
            </a:r>
            <a:endParaRPr lang="en-US" sz="3600" b="1">
              <a:latin typeface="Aptos" panose="020B0004020202020204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524709"/>
            <a:ext cx="11016818" cy="1331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GB" sz="2400" b="1"/>
              <a:t>Version Control</a:t>
            </a:r>
            <a:r>
              <a:rPr lang="en-GB" sz="2400"/>
              <a:t> is a system that tracks changes to files over time.</a:t>
            </a:r>
          </a:p>
          <a:p>
            <a:pPr>
              <a:lnSpc>
                <a:spcPct val="100000"/>
              </a:lnSpc>
            </a:pPr>
            <a:r>
              <a:rPr lang="en-GB" sz="2400"/>
              <a:t>It’s like a smart tool that helps people work together on projects, especially on computer programs.</a:t>
            </a:r>
          </a:p>
          <a:p>
            <a:pPr>
              <a:lnSpc>
                <a:spcPct val="100000"/>
              </a:lnSpc>
            </a:pPr>
            <a:endParaRPr lang="en-GB" sz="2400"/>
          </a:p>
        </p:txBody>
      </p:sp>
      <p:pic>
        <p:nvPicPr>
          <p:cNvPr id="2050" name="Picture 2" descr="What is Version Control? A Beginner-Friendly Explanation">
            <a:extLst>
              <a:ext uri="{FF2B5EF4-FFF2-40B4-BE49-F238E27FC236}">
                <a16:creationId xmlns:a16="http://schemas.microsoft.com/office/drawing/2014/main" id="{DD7A9F7C-433B-9C0E-5C96-D5E80DBC3F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99"/>
          <a:stretch>
            <a:fillRect/>
          </a:stretch>
        </p:blipFill>
        <p:spPr bwMode="auto">
          <a:xfrm>
            <a:off x="4631726" y="3059130"/>
            <a:ext cx="7134419" cy="2921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90EEB8-516C-40E0-057D-20D31887AF42}"/>
              </a:ext>
            </a:extLst>
          </p:cNvPr>
          <p:cNvSpPr txBox="1"/>
          <p:nvPr/>
        </p:nvSpPr>
        <p:spPr>
          <a:xfrm>
            <a:off x="541610" y="3059130"/>
            <a:ext cx="3866004" cy="3350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Why it is important:</a:t>
            </a:r>
          </a:p>
          <a:p>
            <a:pPr lvl="1"/>
            <a:r>
              <a:rPr lang="en-GB" sz="2000"/>
              <a:t>Keeps history of changes</a:t>
            </a:r>
          </a:p>
          <a:p>
            <a:pPr lvl="1"/>
            <a:r>
              <a:rPr lang="en-GB" sz="2000"/>
              <a:t>Allows reverting to previous versions</a:t>
            </a:r>
          </a:p>
          <a:p>
            <a:pPr lvl="1"/>
            <a:r>
              <a:rPr lang="en-GB" sz="2000"/>
              <a:t>Supports collaboration</a:t>
            </a:r>
          </a:p>
          <a:p>
            <a:pPr lvl="1"/>
            <a:r>
              <a:rPr lang="en-GB" sz="2000"/>
              <a:t>Prevents accidental data loss</a:t>
            </a:r>
            <a:endParaRPr lang="en-US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0F69D8-0ABD-AA9A-81FF-843CC5AFE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5D56F46D-A644-AC85-41EA-825ADB22C3AE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8D6DDD-8EBB-6F76-B2D3-94A363E080C9}"/>
              </a:ext>
            </a:extLst>
          </p:cNvPr>
          <p:cNvSpPr txBox="1"/>
          <p:nvPr/>
        </p:nvSpPr>
        <p:spPr>
          <a:xfrm>
            <a:off x="4741818" y="2531125"/>
            <a:ext cx="2442754" cy="1795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lvl="1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ctr">
              <a:buNone/>
            </a:pPr>
            <a:r>
              <a:rPr lang="en-GB" sz="10700"/>
              <a:t>!=</a:t>
            </a:r>
            <a:endParaRPr lang="en-US" sz="10700"/>
          </a:p>
        </p:txBody>
      </p:sp>
      <p:pic>
        <p:nvPicPr>
          <p:cNvPr id="10242" name="Picture 2" descr="What is GitHub? - Pythia Foundations">
            <a:extLst>
              <a:ext uri="{FF2B5EF4-FFF2-40B4-BE49-F238E27FC236}">
                <a16:creationId xmlns:a16="http://schemas.microsoft.com/office/drawing/2014/main" id="{59140C65-6339-31C6-23FE-5B6CA2E7D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550" y="2072708"/>
            <a:ext cx="4303849" cy="242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git - Planview">
            <a:extLst>
              <a:ext uri="{FF2B5EF4-FFF2-40B4-BE49-F238E27FC236}">
                <a16:creationId xmlns:a16="http://schemas.microsoft.com/office/drawing/2014/main" id="{D023EB52-C984-EDDA-E7B5-279C41845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90" y="2699103"/>
            <a:ext cx="3455128" cy="1459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910B4E-48E5-20E7-D576-50AFCF733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5420BB7E-C0FB-6935-FBFB-C09E2EB5185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822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What Is Git?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09" y="1431010"/>
            <a:ext cx="11103219" cy="199799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GB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Git</a:t>
            </a:r>
            <a:r>
              <a:rPr lang="en-GB" sz="2400">
                <a:solidFill>
                  <a:schemeClr val="tx1">
                    <a:lumMod val="75000"/>
                    <a:lumOff val="25000"/>
                  </a:schemeClr>
                </a:solidFill>
              </a:rPr>
              <a:t> is a distributed version control system.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23F08C-FC6D-FA90-4B9A-ACBBE02835D4}"/>
              </a:ext>
            </a:extLst>
          </p:cNvPr>
          <p:cNvSpPr/>
          <p:nvPr/>
        </p:nvSpPr>
        <p:spPr>
          <a:xfrm>
            <a:off x="658255" y="2176249"/>
            <a:ext cx="3935804" cy="735257"/>
          </a:xfrm>
          <a:prstGeom prst="roundRect">
            <a:avLst>
              <a:gd name="adj" fmla="val 50000"/>
            </a:avLst>
          </a:prstGeom>
          <a:solidFill>
            <a:srgbClr val="F14E32">
              <a:alpha val="20000"/>
            </a:srgb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4D674B-61B8-55A3-7CD9-B896E5A37954}"/>
              </a:ext>
            </a:extLst>
          </p:cNvPr>
          <p:cNvSpPr txBox="1"/>
          <p:nvPr/>
        </p:nvSpPr>
        <p:spPr>
          <a:xfrm>
            <a:off x="1025901" y="2343822"/>
            <a:ext cx="3200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lang="en-GB" sz="2000">
                <a:solidFill>
                  <a:schemeClr val="tx1">
                    <a:lumMod val="75000"/>
                    <a:lumOff val="25000"/>
                  </a:schemeClr>
                </a:solidFill>
              </a:rPr>
              <a:t>Tracks changes in files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82B7340-535A-FFA2-6CCB-F0AF2ED362CF}"/>
              </a:ext>
            </a:extLst>
          </p:cNvPr>
          <p:cNvSpPr/>
          <p:nvPr/>
        </p:nvSpPr>
        <p:spPr>
          <a:xfrm>
            <a:off x="658255" y="4013061"/>
            <a:ext cx="3935804" cy="735257"/>
          </a:xfrm>
          <a:prstGeom prst="roundRect">
            <a:avLst>
              <a:gd name="adj" fmla="val 50000"/>
            </a:avLst>
          </a:prstGeom>
          <a:solidFill>
            <a:srgbClr val="F14E32">
              <a:alpha val="20000"/>
            </a:srgb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D136C-E2BB-9EDD-0613-7B3C98966D38}"/>
              </a:ext>
            </a:extLst>
          </p:cNvPr>
          <p:cNvSpPr txBox="1"/>
          <p:nvPr/>
        </p:nvSpPr>
        <p:spPr>
          <a:xfrm>
            <a:off x="1025901" y="4180634"/>
            <a:ext cx="3200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lang="en-GB" sz="2000">
                <a:solidFill>
                  <a:schemeClr val="tx1">
                    <a:lumMod val="75000"/>
                    <a:lumOff val="25000"/>
                  </a:schemeClr>
                </a:solidFill>
              </a:rPr>
              <a:t>Works Offline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BB14557-ED84-88DF-3DDA-45CB221EDEB2}"/>
              </a:ext>
            </a:extLst>
          </p:cNvPr>
          <p:cNvSpPr/>
          <p:nvPr/>
        </p:nvSpPr>
        <p:spPr>
          <a:xfrm>
            <a:off x="658255" y="3094655"/>
            <a:ext cx="3935804" cy="735257"/>
          </a:xfrm>
          <a:prstGeom prst="roundRect">
            <a:avLst>
              <a:gd name="adj" fmla="val 50000"/>
            </a:avLst>
          </a:prstGeom>
          <a:solidFill>
            <a:srgbClr val="F14E32">
              <a:alpha val="20000"/>
            </a:srgb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4948D9-9553-0FDD-A065-B2D16B5A9CF4}"/>
              </a:ext>
            </a:extLst>
          </p:cNvPr>
          <p:cNvSpPr txBox="1"/>
          <p:nvPr/>
        </p:nvSpPr>
        <p:spPr>
          <a:xfrm>
            <a:off x="1025901" y="3262228"/>
            <a:ext cx="3200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lang="en-GB" sz="2000">
                <a:solidFill>
                  <a:schemeClr val="tx1">
                    <a:lumMod val="75000"/>
                    <a:lumOff val="25000"/>
                  </a:schemeClr>
                </a:solidFill>
              </a:rPr>
              <a:t>Fast and Reliable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1D0D45-CA30-7808-EBE0-691722066234}"/>
              </a:ext>
            </a:extLst>
          </p:cNvPr>
          <p:cNvSpPr/>
          <p:nvPr/>
        </p:nvSpPr>
        <p:spPr>
          <a:xfrm>
            <a:off x="658255" y="4931467"/>
            <a:ext cx="3935804" cy="735257"/>
          </a:xfrm>
          <a:prstGeom prst="roundRect">
            <a:avLst>
              <a:gd name="adj" fmla="val 50000"/>
            </a:avLst>
          </a:prstGeom>
          <a:solidFill>
            <a:srgbClr val="F14E32">
              <a:alpha val="20000"/>
            </a:srgbClr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445CB2-6C13-4922-B3C9-AD4A7AF2F4DB}"/>
              </a:ext>
            </a:extLst>
          </p:cNvPr>
          <p:cNvSpPr txBox="1"/>
          <p:nvPr/>
        </p:nvSpPr>
        <p:spPr>
          <a:xfrm>
            <a:off x="863903" y="4944802"/>
            <a:ext cx="3481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lang="en-GB" sz="2000">
                <a:solidFill>
                  <a:schemeClr val="tx1">
                    <a:lumMod val="75000"/>
                    <a:lumOff val="25000"/>
                  </a:schemeClr>
                </a:solidFill>
              </a:rPr>
              <a:t>Used Via Command Line or tools like GitHub Desktop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F416917-38BF-6C09-B2F8-4687515F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0" y="2176249"/>
            <a:ext cx="6247328" cy="349368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002AA-0C56-ED7E-C2E2-E4E95A585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B8747BE6-3F2A-B910-DC61-A046B6F8782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Key Git Concepts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34600D4D-2679-4941-9897-54CB8B45FE1D}"/>
              </a:ext>
            </a:extLst>
          </p:cNvPr>
          <p:cNvSpPr txBox="1">
            <a:spLocks/>
          </p:cNvSpPr>
          <p:nvPr/>
        </p:nvSpPr>
        <p:spPr>
          <a:xfrm>
            <a:off x="541609" y="1431010"/>
            <a:ext cx="11103219" cy="4790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1000"/>
              </a:spcAft>
            </a:pPr>
            <a:endParaRPr lang="en-GB" sz="2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DECDAEC-52A8-73A8-52A4-3567C8777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113" y="1837686"/>
            <a:ext cx="8637224" cy="4216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Repository (Repo):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Project folder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Commit: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Saved snapshot of changes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Branch: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Separate line of development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Merge: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Combine branches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Clone: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Copy a repository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Push: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Upload changes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Pull: </a:t>
            </a:r>
            <a:r>
              <a:rPr lang="en-US" altLang="en-US" sz="2400">
                <a:solidFill>
                  <a:schemeClr val="tx1">
                    <a:lumMod val="75000"/>
                    <a:lumOff val="25000"/>
                  </a:schemeClr>
                </a:solidFill>
              </a:rPr>
              <a:t>Download changes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AD954-B3F2-CE75-202C-412A07C90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D5D91292-73D0-A280-6D36-4D99CD36C21F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10-Minute Guide to Git Version Control for Testers | by Zhimin Zhan | Medium">
            <a:extLst>
              <a:ext uri="{FF2B5EF4-FFF2-40B4-BE49-F238E27FC236}">
                <a16:creationId xmlns:a16="http://schemas.microsoft.com/office/drawing/2014/main" id="{85CCDF77-8CD6-C230-7AA9-0803825EE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77" y="627744"/>
            <a:ext cx="11063845" cy="560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E8E52-A07B-94DC-8720-68015D7AC6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4C4538B8-D3F0-D7CA-098E-C41A37779A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9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F629-E6E7-B16E-BC0C-25C10A6F3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Repository (Repo)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83A1A-BC75-AC92-C1D5-2618679A6072}"/>
              </a:ext>
            </a:extLst>
          </p:cNvPr>
          <p:cNvSpPr txBox="1"/>
          <p:nvPr/>
        </p:nvSpPr>
        <p:spPr>
          <a:xfrm>
            <a:off x="521207" y="2690337"/>
            <a:ext cx="8788045" cy="1540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sz="2000"/>
              <a:t>A repository </a:t>
            </a:r>
            <a:r>
              <a:rPr lang="en-GB" sz="2000" b="0"/>
              <a:t>is a central project folder where all files, folders, and their complete change history are stored.</a:t>
            </a:r>
          </a:p>
          <a:p>
            <a:r>
              <a:rPr lang="en-GB" sz="2000" b="0"/>
              <a:t>Contains source code, documents, and configuration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E53F0-0589-964A-E823-F219FF60D7F5}"/>
              </a:ext>
            </a:extLst>
          </p:cNvPr>
          <p:cNvSpPr txBox="1"/>
          <p:nvPr/>
        </p:nvSpPr>
        <p:spPr>
          <a:xfrm>
            <a:off x="521207" y="4652972"/>
            <a:ext cx="4880803" cy="1087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sz="2000"/>
              <a:t>Local Repository: </a:t>
            </a:r>
            <a:r>
              <a:rPr lang="en-GB" sz="2000" b="0"/>
              <a:t>on your computer</a:t>
            </a:r>
          </a:p>
          <a:p>
            <a:r>
              <a:rPr lang="en-GB" sz="2000"/>
              <a:t>Remote Repository: </a:t>
            </a:r>
            <a:r>
              <a:rPr lang="en-GB" sz="2000" b="0"/>
              <a:t>on GitHub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058540-F930-A2DC-4ADD-4E449C6E6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228" y="3180059"/>
            <a:ext cx="3617030" cy="3128965"/>
          </a:xfrm>
          <a:prstGeom prst="rect">
            <a:avLst/>
          </a:prstGeom>
        </p:spPr>
      </p:pic>
      <p:pic>
        <p:nvPicPr>
          <p:cNvPr id="3" name="Picture 2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AB642849-27C9-E12F-7DC9-034A1625FD8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8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B69B-A518-72EE-02FB-379E459A7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6565-F383-6D95-7A0F-E6DAF642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Commit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9E895-7A4C-725C-48A7-5CEC8550805D}"/>
              </a:ext>
            </a:extLst>
          </p:cNvPr>
          <p:cNvSpPr txBox="1"/>
          <p:nvPr/>
        </p:nvSpPr>
        <p:spPr>
          <a:xfrm>
            <a:off x="521207" y="2690336"/>
            <a:ext cx="10926051" cy="2851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sz="2000" b="0"/>
              <a:t>A </a:t>
            </a:r>
            <a:r>
              <a:rPr lang="en-GB" sz="2000"/>
              <a:t>commit</a:t>
            </a:r>
            <a:r>
              <a:rPr lang="en-GB" sz="2000" b="0"/>
              <a:t> is a saved snapshot of changes made to files in the repository at a specific point in time.</a:t>
            </a:r>
          </a:p>
          <a:p>
            <a:r>
              <a:rPr lang="en-GB" sz="2000" b="0"/>
              <a:t>Records what was changed, when, and by whom</a:t>
            </a:r>
          </a:p>
          <a:p>
            <a:r>
              <a:rPr lang="en-GB" sz="2000" b="0"/>
              <a:t>Includes a commit message describing the changes</a:t>
            </a:r>
          </a:p>
          <a:p>
            <a:r>
              <a:rPr lang="en-GB" sz="2000" b="0"/>
              <a:t>Helps restore previous versions if needed</a:t>
            </a:r>
          </a:p>
        </p:txBody>
      </p:sp>
      <p:pic>
        <p:nvPicPr>
          <p:cNvPr id="13314" name="Picture 2" descr="Committing changes | Git tutorial | Nulab">
            <a:extLst>
              <a:ext uri="{FF2B5EF4-FFF2-40B4-BE49-F238E27FC236}">
                <a16:creationId xmlns:a16="http://schemas.microsoft.com/office/drawing/2014/main" id="{A1A91CB4-4EB3-D6F7-BC79-7685B9CD1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612" y="3429000"/>
            <a:ext cx="4709711" cy="264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35613ADA-6961-D086-3599-23271C75833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6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9BC9D-2D4D-A311-FF61-48B56D7ED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89BB-3304-36F8-A6C8-ADD6DE79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Clone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03ADA-60B3-CA31-E067-5BFAA8D0B3A8}"/>
              </a:ext>
            </a:extLst>
          </p:cNvPr>
          <p:cNvSpPr txBox="1"/>
          <p:nvPr/>
        </p:nvSpPr>
        <p:spPr>
          <a:xfrm>
            <a:off x="521207" y="2690336"/>
            <a:ext cx="10719949" cy="379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A </a:t>
            </a:r>
            <a:r>
              <a:rPr lang="en-GB" b="1"/>
              <a:t>clone</a:t>
            </a:r>
            <a:r>
              <a:rPr lang="en-GB"/>
              <a:t> creates a local copy of a remote repository on your computer.</a:t>
            </a:r>
          </a:p>
          <a:p>
            <a:r>
              <a:rPr lang="en-GB"/>
              <a:t>Downloads all files and version history</a:t>
            </a:r>
          </a:p>
          <a:p>
            <a:r>
              <a:rPr lang="en-GB"/>
              <a:t>Allows offline work</a:t>
            </a:r>
          </a:p>
          <a:p>
            <a:r>
              <a:rPr lang="en-GB"/>
              <a:t>Keeps connection to the remote repository for updates</a:t>
            </a:r>
          </a:p>
        </p:txBody>
      </p:sp>
      <p:pic>
        <p:nvPicPr>
          <p:cNvPr id="3" name="Picture 2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C6DE5479-06E4-96E8-B521-460995C8F137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620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11297-7ED1-4D60-F6A6-FBBACF08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EFF5-BCE5-4923-0C81-DB875105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Push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51166-AC3B-AEF0-1FCE-84351E8F46EC}"/>
              </a:ext>
            </a:extLst>
          </p:cNvPr>
          <p:cNvSpPr txBox="1"/>
          <p:nvPr/>
        </p:nvSpPr>
        <p:spPr>
          <a:xfrm>
            <a:off x="521208" y="2690337"/>
            <a:ext cx="5405868" cy="2631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/>
              <a:t>A </a:t>
            </a:r>
            <a:r>
              <a:rPr lang="en-GB" b="1"/>
              <a:t>push</a:t>
            </a:r>
            <a:r>
              <a:rPr lang="en-GB"/>
              <a:t> uploads committed changes from a local repository to a remote repository.</a:t>
            </a:r>
          </a:p>
          <a:p>
            <a:r>
              <a:rPr lang="en-GB"/>
              <a:t>A </a:t>
            </a:r>
            <a:r>
              <a:rPr lang="en-GB" b="1"/>
              <a:t>pull</a:t>
            </a:r>
            <a:r>
              <a:rPr lang="en-GB"/>
              <a:t> downloads and integrates changes from a remote repository into your local repository.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3C157-1102-73C6-F762-FEE80223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174" y="2640640"/>
            <a:ext cx="4010853" cy="3716898"/>
          </a:xfrm>
          <a:prstGeom prst="rect">
            <a:avLst/>
          </a:prstGeom>
        </p:spPr>
      </p:pic>
      <p:pic>
        <p:nvPicPr>
          <p:cNvPr id="3" name="Picture 2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081EAEA1-6DF8-4FB1-F6DE-AF7FF4B2D602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0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What Is GitHub?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4ED71-F91A-B900-F6B8-CC842AB27C92}"/>
              </a:ext>
            </a:extLst>
          </p:cNvPr>
          <p:cNvSpPr txBox="1"/>
          <p:nvPr/>
        </p:nvSpPr>
        <p:spPr>
          <a:xfrm>
            <a:off x="635619" y="1448971"/>
            <a:ext cx="10872439" cy="3960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>
                <a:solidFill>
                  <a:srgbClr val="F14E32"/>
                </a:solidFill>
              </a:rPr>
              <a:t>GitHub </a:t>
            </a:r>
            <a:r>
              <a:rPr lang="en-GB"/>
              <a:t>is a cloud-based platform for hosting Git repositories.</a:t>
            </a:r>
          </a:p>
          <a:p>
            <a:r>
              <a:rPr lang="en-GB" sz="2000" b="0"/>
              <a:t>Stores code online</a:t>
            </a:r>
          </a:p>
          <a:p>
            <a:r>
              <a:rPr lang="en-GB" sz="2000" b="0"/>
              <a:t>Enables collaboration</a:t>
            </a:r>
          </a:p>
          <a:p>
            <a:r>
              <a:rPr lang="en-GB" sz="2000" b="0"/>
              <a:t>Provides issue tracking</a:t>
            </a:r>
          </a:p>
          <a:p>
            <a:r>
              <a:rPr lang="en-GB" sz="2000" b="0"/>
              <a:t>Supports project management</a:t>
            </a:r>
          </a:p>
          <a:p>
            <a:r>
              <a:rPr lang="en-GB" sz="2000" b="0"/>
              <a:t>Widely used in open-source projects</a:t>
            </a:r>
          </a:p>
        </p:txBody>
      </p:sp>
      <p:pic>
        <p:nvPicPr>
          <p:cNvPr id="18434" name="Picture 2" descr="What is GitHub? - Pythia Foundations">
            <a:extLst>
              <a:ext uri="{FF2B5EF4-FFF2-40B4-BE49-F238E27FC236}">
                <a16:creationId xmlns:a16="http://schemas.microsoft.com/office/drawing/2014/main" id="{2248BFB1-97E8-646D-AC6C-C09544EDA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721" y="3139765"/>
            <a:ext cx="4449337" cy="2502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99074-6D40-ECA9-0B73-8B35CB702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A5761E61-9531-554E-BE31-7E06BE1555C7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Git vs GitHub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86FD83-1A6F-DFE3-8569-E2159B31EA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50703"/>
              </p:ext>
            </p:extLst>
          </p:nvPr>
        </p:nvGraphicFramePr>
        <p:xfrm>
          <a:off x="1258616" y="2313575"/>
          <a:ext cx="9674768" cy="3056039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4837384">
                  <a:extLst>
                    <a:ext uri="{9D8B030D-6E8A-4147-A177-3AD203B41FA5}">
                      <a16:colId xmlns:a16="http://schemas.microsoft.com/office/drawing/2014/main" val="1396244006"/>
                    </a:ext>
                  </a:extLst>
                </a:gridCol>
                <a:gridCol w="4837384">
                  <a:extLst>
                    <a:ext uri="{9D8B030D-6E8A-4147-A177-3AD203B41FA5}">
                      <a16:colId xmlns:a16="http://schemas.microsoft.com/office/drawing/2014/main" val="4053136659"/>
                    </a:ext>
                  </a:extLst>
                </a:gridCol>
              </a:tblGrid>
              <a:tr h="7990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Git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4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</a:rPr>
                        <a:t>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4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456532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Version control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Hosting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108645"/>
                  </a:ext>
                </a:extLst>
              </a:tr>
              <a:tr h="425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Runs locally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Runs online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7268234"/>
                  </a:ext>
                </a:extLst>
              </a:tr>
              <a:tr h="703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Tracks file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Shares and manages repos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31912"/>
                  </a:ext>
                </a:extLst>
              </a:tr>
              <a:tr h="703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Command-line 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Web interface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631394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B8892-D91C-CB11-73F4-F29938619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4" name="Picture 3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A56206DB-8E87-5A0A-2D07-1551B644D43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720B-7EAB-A4C4-E751-BF775844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C71BAA-D4D7-6C20-2813-027AEA86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GitHub Features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A0CF7BA-ED14-CDFA-1779-96148B960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962" y="1578017"/>
            <a:ext cx="3631804" cy="322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Repositories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Pull Requests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Issues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Actions (CI/CD)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Forking</a:t>
            </a:r>
          </a:p>
          <a:p>
            <a:pPr marL="342900" indent="-342900">
              <a:spcBef>
                <a:spcPts val="1000"/>
              </a:spcBef>
              <a:spcAft>
                <a:spcPts val="1000"/>
              </a:spcAft>
              <a:buClr>
                <a:srgbClr val="F14E32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altLang="en-US" sz="2000" b="1">
                <a:solidFill>
                  <a:schemeClr val="tx1">
                    <a:lumMod val="75000"/>
                    <a:lumOff val="25000"/>
                  </a:schemeClr>
                </a:solidFill>
              </a:rPr>
              <a:t>Collaboration tools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631DC-B197-4076-D0A6-AD2693E7F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18F1214A-BFCB-2A10-20CE-AB2DE18D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4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B7F39-483B-F0D8-F80D-4F10C711A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12B3-72EB-F4FC-41F9-7B35C483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Forking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1EAAD-F7C4-7574-DD9A-090D4FA5FAC0}"/>
              </a:ext>
            </a:extLst>
          </p:cNvPr>
          <p:cNvSpPr txBox="1"/>
          <p:nvPr/>
        </p:nvSpPr>
        <p:spPr>
          <a:xfrm>
            <a:off x="521208" y="2534218"/>
            <a:ext cx="9882880" cy="379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b="1"/>
              <a:t>Forking</a:t>
            </a:r>
            <a:r>
              <a:rPr lang="en-GB"/>
              <a:t> is the process of creating a personal copy of someone else’s repository under your own GitHub account.</a:t>
            </a:r>
          </a:p>
          <a:p>
            <a:r>
              <a:rPr lang="en-GB"/>
              <a:t>It allows you to freely experiment with changes without affecting the original project.</a:t>
            </a:r>
          </a:p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BAD514-6026-4F9A-6339-29F8A1ED4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454976"/>
              </p:ext>
            </p:extLst>
          </p:nvPr>
        </p:nvGraphicFramePr>
        <p:xfrm>
          <a:off x="725227" y="4419114"/>
          <a:ext cx="10582110" cy="1805387"/>
        </p:xfrm>
        <a:graphic>
          <a:graphicData uri="http://schemas.openxmlformats.org/drawingml/2006/table">
            <a:tbl>
              <a:tblPr/>
              <a:tblGrid>
                <a:gridCol w="5291055">
                  <a:extLst>
                    <a:ext uri="{9D8B030D-6E8A-4147-A177-3AD203B41FA5}">
                      <a16:colId xmlns:a16="http://schemas.microsoft.com/office/drawing/2014/main" val="3600662904"/>
                    </a:ext>
                  </a:extLst>
                </a:gridCol>
                <a:gridCol w="5291055">
                  <a:extLst>
                    <a:ext uri="{9D8B030D-6E8A-4147-A177-3AD203B41FA5}">
                      <a16:colId xmlns:a16="http://schemas.microsoft.com/office/drawing/2014/main" val="2052670555"/>
                    </a:ext>
                  </a:extLst>
                </a:gridCol>
              </a:tblGrid>
              <a:tr h="248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Forking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4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Cloning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4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214485"/>
                  </a:ext>
                </a:extLst>
              </a:tr>
              <a:tr h="41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Creates a copy on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Creates a copy on your computer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057699"/>
                  </a:ext>
                </a:extLst>
              </a:tr>
              <a:tr h="599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Used for contributing to others’ projects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Used for local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798563"/>
                  </a:ext>
                </a:extLst>
              </a:tr>
              <a:tr h="41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Independent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Linked to a remote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80241"/>
                  </a:ext>
                </a:extLst>
              </a:tr>
            </a:tbl>
          </a:graphicData>
        </a:graphic>
      </p:graphicFrame>
      <p:pic>
        <p:nvPicPr>
          <p:cNvPr id="20486" name="Picture 6" descr="Code fork symbol - Free technology icons">
            <a:extLst>
              <a:ext uri="{FF2B5EF4-FFF2-40B4-BE49-F238E27FC236}">
                <a16:creationId xmlns:a16="http://schemas.microsoft.com/office/drawing/2014/main" id="{E481CF64-BD3F-A9D0-9F23-BA76AC813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238" y="668039"/>
            <a:ext cx="1554009" cy="1554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ED92967D-1748-EA92-80AD-4BD044E7C93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8D0F8-0F85-23B1-2716-91B393C3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14E6EE-8842-06BC-DF4A-856988EF06F8}"/>
              </a:ext>
            </a:extLst>
          </p:cNvPr>
          <p:cNvCxnSpPr/>
          <p:nvPr/>
        </p:nvCxnSpPr>
        <p:spPr>
          <a:xfrm>
            <a:off x="1873405" y="3646593"/>
            <a:ext cx="8307658" cy="0"/>
          </a:xfrm>
          <a:prstGeom prst="straightConnector1">
            <a:avLst/>
          </a:prstGeom>
          <a:ln w="571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5">
            <a:extLst>
              <a:ext uri="{FF2B5EF4-FFF2-40B4-BE49-F238E27FC236}">
                <a16:creationId xmlns:a16="http://schemas.microsoft.com/office/drawing/2014/main" id="{0666DC5A-9C01-4934-BFCC-61E65906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Basic Git Workflow</a:t>
            </a:r>
          </a:p>
        </p:txBody>
      </p:sp>
      <p:grpSp>
        <p:nvGrpSpPr>
          <p:cNvPr id="2" name="Group 1" descr="Small circle with number 1 inside  indicating step 1">
            <a:extLst>
              <a:ext uri="{FF2B5EF4-FFF2-40B4-BE49-F238E27FC236}">
                <a16:creationId xmlns:a16="http://schemas.microsoft.com/office/drawing/2014/main" id="{1CA50B34-DC6F-0BD4-8608-2B4E20255909}"/>
              </a:ext>
            </a:extLst>
          </p:cNvPr>
          <p:cNvGrpSpPr/>
          <p:nvPr/>
        </p:nvGrpSpPr>
        <p:grpSpPr bwMode="blackWhite">
          <a:xfrm>
            <a:off x="2045187" y="3465890"/>
            <a:ext cx="558179" cy="409838"/>
            <a:chOff x="6953426" y="711274"/>
            <a:chExt cx="558179" cy="409838"/>
          </a:xfrm>
        </p:grpSpPr>
        <p:sp>
          <p:nvSpPr>
            <p:cNvPr id="3" name="Oval 2" descr="Small circle">
              <a:extLst>
                <a:ext uri="{FF2B5EF4-FFF2-40B4-BE49-F238E27FC236}">
                  <a16:creationId xmlns:a16="http://schemas.microsoft.com/office/drawing/2014/main" id="{97819F3E-46DB-950B-7F22-47E126E6BE16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 descr="Number 1">
              <a:extLst>
                <a:ext uri="{FF2B5EF4-FFF2-40B4-BE49-F238E27FC236}">
                  <a16:creationId xmlns:a16="http://schemas.microsoft.com/office/drawing/2014/main" id="{B4D88CD6-E0B9-DC08-FD5B-B7776D00B92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grpSp>
        <p:nvGrpSpPr>
          <p:cNvPr id="7" name="Group 6" descr="Small circle with number 2 inside  indicating step 2">
            <a:extLst>
              <a:ext uri="{FF2B5EF4-FFF2-40B4-BE49-F238E27FC236}">
                <a16:creationId xmlns:a16="http://schemas.microsoft.com/office/drawing/2014/main" id="{1CBC449D-4339-67B9-EF69-38CB64232F54}"/>
              </a:ext>
            </a:extLst>
          </p:cNvPr>
          <p:cNvGrpSpPr/>
          <p:nvPr/>
        </p:nvGrpSpPr>
        <p:grpSpPr bwMode="blackWhite">
          <a:xfrm>
            <a:off x="3717149" y="3461927"/>
            <a:ext cx="558179" cy="409838"/>
            <a:chOff x="6953426" y="711274"/>
            <a:chExt cx="558179" cy="409838"/>
          </a:xfrm>
        </p:grpSpPr>
        <p:sp>
          <p:nvSpPr>
            <p:cNvPr id="9" name="Oval 8" descr="Small circle">
              <a:extLst>
                <a:ext uri="{FF2B5EF4-FFF2-40B4-BE49-F238E27FC236}">
                  <a16:creationId xmlns:a16="http://schemas.microsoft.com/office/drawing/2014/main" id="{EEDB1B24-CFD1-04B1-B518-A198D92AD41B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 descr="Number 2">
              <a:extLst>
                <a:ext uri="{FF2B5EF4-FFF2-40B4-BE49-F238E27FC236}">
                  <a16:creationId xmlns:a16="http://schemas.microsoft.com/office/drawing/2014/main" id="{0F0C5E17-BD4C-74B5-904E-E1601498BBC1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grpSp>
        <p:nvGrpSpPr>
          <p:cNvPr id="12" name="Group 11" descr="Small circle with number 3 inside  indicating step 3">
            <a:extLst>
              <a:ext uri="{FF2B5EF4-FFF2-40B4-BE49-F238E27FC236}">
                <a16:creationId xmlns:a16="http://schemas.microsoft.com/office/drawing/2014/main" id="{9E6735D6-5E71-961D-97FD-56EECCB44A87}"/>
              </a:ext>
            </a:extLst>
          </p:cNvPr>
          <p:cNvGrpSpPr/>
          <p:nvPr/>
        </p:nvGrpSpPr>
        <p:grpSpPr bwMode="blackWhite">
          <a:xfrm>
            <a:off x="5317709" y="3461927"/>
            <a:ext cx="558179" cy="409838"/>
            <a:chOff x="6953426" y="711274"/>
            <a:chExt cx="558179" cy="409838"/>
          </a:xfrm>
        </p:grpSpPr>
        <p:sp>
          <p:nvSpPr>
            <p:cNvPr id="13" name="Oval 12" descr="Small circle">
              <a:extLst>
                <a:ext uri="{FF2B5EF4-FFF2-40B4-BE49-F238E27FC236}">
                  <a16:creationId xmlns:a16="http://schemas.microsoft.com/office/drawing/2014/main" id="{EABBA029-E22E-19AC-9506-4E61214022DB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 descr="Number 3">
              <a:extLst>
                <a:ext uri="{FF2B5EF4-FFF2-40B4-BE49-F238E27FC236}">
                  <a16:creationId xmlns:a16="http://schemas.microsoft.com/office/drawing/2014/main" id="{A124C880-D45F-3C23-A364-228227E7BAE8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F86A800-1934-513C-5A0B-3BBCBAC57F77}"/>
              </a:ext>
            </a:extLst>
          </p:cNvPr>
          <p:cNvSpPr txBox="1"/>
          <p:nvPr/>
        </p:nvSpPr>
        <p:spPr>
          <a:xfrm>
            <a:off x="1894003" y="4015925"/>
            <a:ext cx="20657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a Repository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B32670-3BEF-ABF3-5008-9E28933D272C}"/>
              </a:ext>
            </a:extLst>
          </p:cNvPr>
          <p:cNvSpPr txBox="1"/>
          <p:nvPr/>
        </p:nvSpPr>
        <p:spPr>
          <a:xfrm>
            <a:off x="6854362" y="2705408"/>
            <a:ext cx="16986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Push to GitHub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E6F345-ADE7-38E0-F3EE-3E911076B5CF}"/>
              </a:ext>
            </a:extLst>
          </p:cNvPr>
          <p:cNvSpPr txBox="1"/>
          <p:nvPr/>
        </p:nvSpPr>
        <p:spPr>
          <a:xfrm>
            <a:off x="5168744" y="3969029"/>
            <a:ext cx="20657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Commit Changes</a:t>
            </a:r>
          </a:p>
        </p:txBody>
      </p:sp>
      <p:grpSp>
        <p:nvGrpSpPr>
          <p:cNvPr id="23" name="Group 22" descr="Small circle with number 3 inside  indicating step 3">
            <a:extLst>
              <a:ext uri="{FF2B5EF4-FFF2-40B4-BE49-F238E27FC236}">
                <a16:creationId xmlns:a16="http://schemas.microsoft.com/office/drawing/2014/main" id="{F4D69DB2-E5ED-6C5E-9532-A9095146BEC9}"/>
              </a:ext>
            </a:extLst>
          </p:cNvPr>
          <p:cNvGrpSpPr/>
          <p:nvPr/>
        </p:nvGrpSpPr>
        <p:grpSpPr bwMode="blackWhite">
          <a:xfrm>
            <a:off x="7058107" y="3457964"/>
            <a:ext cx="558179" cy="409838"/>
            <a:chOff x="6953426" y="711274"/>
            <a:chExt cx="558179" cy="409838"/>
          </a:xfrm>
        </p:grpSpPr>
        <p:sp>
          <p:nvSpPr>
            <p:cNvPr id="24" name="Oval 23" descr="Small circle">
              <a:extLst>
                <a:ext uri="{FF2B5EF4-FFF2-40B4-BE49-F238E27FC236}">
                  <a16:creationId xmlns:a16="http://schemas.microsoft.com/office/drawing/2014/main" id="{689E736C-B301-60B0-7C0E-75ECB1B66C3F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 descr="Number 3">
              <a:extLst>
                <a:ext uri="{FF2B5EF4-FFF2-40B4-BE49-F238E27FC236}">
                  <a16:creationId xmlns:a16="http://schemas.microsoft.com/office/drawing/2014/main" id="{19897137-0E66-23FD-FC6C-B383C17D37BF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grpSp>
        <p:nvGrpSpPr>
          <p:cNvPr id="26" name="Group 25" descr="Small circle with number 3 inside  indicating step 3">
            <a:extLst>
              <a:ext uri="{FF2B5EF4-FFF2-40B4-BE49-F238E27FC236}">
                <a16:creationId xmlns:a16="http://schemas.microsoft.com/office/drawing/2014/main" id="{5EA96B3C-8C8E-5E6D-F645-D12627CCAF7F}"/>
              </a:ext>
            </a:extLst>
          </p:cNvPr>
          <p:cNvGrpSpPr/>
          <p:nvPr/>
        </p:nvGrpSpPr>
        <p:grpSpPr bwMode="blackWhite">
          <a:xfrm>
            <a:off x="8721144" y="3454001"/>
            <a:ext cx="558179" cy="409838"/>
            <a:chOff x="6953426" y="711274"/>
            <a:chExt cx="558179" cy="409838"/>
          </a:xfrm>
        </p:grpSpPr>
        <p:sp>
          <p:nvSpPr>
            <p:cNvPr id="27" name="Oval 26" descr="Small circle">
              <a:extLst>
                <a:ext uri="{FF2B5EF4-FFF2-40B4-BE49-F238E27FC236}">
                  <a16:creationId xmlns:a16="http://schemas.microsoft.com/office/drawing/2014/main" id="{A0B02B39-8954-7EA0-BB9B-87B78C64E639}"/>
                </a:ext>
              </a:extLst>
            </p:cNvPr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 descr="Number 3">
              <a:extLst>
                <a:ext uri="{FF2B5EF4-FFF2-40B4-BE49-F238E27FC236}">
                  <a16:creationId xmlns:a16="http://schemas.microsoft.com/office/drawing/2014/main" id="{D1CEB177-9A94-F29E-1413-B4C3615CE788}"/>
                </a:ext>
              </a:extLst>
            </p:cNvPr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A438FC6-249E-F843-6BE6-27F60CA9FCAE}"/>
              </a:ext>
            </a:extLst>
          </p:cNvPr>
          <p:cNvSpPr txBox="1"/>
          <p:nvPr/>
        </p:nvSpPr>
        <p:spPr>
          <a:xfrm>
            <a:off x="3588066" y="2705409"/>
            <a:ext cx="20657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 Changes to Files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AC7B70-28A9-F61E-85F8-C429525845E6}"/>
              </a:ext>
            </a:extLst>
          </p:cNvPr>
          <p:cNvSpPr txBox="1"/>
          <p:nvPr/>
        </p:nvSpPr>
        <p:spPr>
          <a:xfrm>
            <a:off x="8532693" y="3972992"/>
            <a:ext cx="20657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512763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GB" sz="200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Pull Updates from other Developers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1219D-E3E8-2B62-810A-04EB9C696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5" name="Picture 4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D618AE81-A436-9DA6-A43C-4226A63B69C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50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D7434-9514-C4B1-C55F-5D18BD8B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05A988-A67C-8CBE-5239-E184479A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	</a:t>
            </a:r>
            <a:br>
              <a:rPr lang="en-US" sz="3600" b="1">
                <a:latin typeface="Aptos" panose="020B0004020202020204" pitchFamily="34" charset="0"/>
              </a:rPr>
            </a:br>
            <a:br>
              <a:rPr lang="en-US" sz="3600" b="1">
                <a:latin typeface="Aptos" panose="020B0004020202020204" pitchFamily="34" charset="0"/>
              </a:rPr>
            </a:br>
            <a:r>
              <a:rPr lang="en-US" sz="3600" b="1">
                <a:latin typeface="Aptos" panose="020B0004020202020204" pitchFamily="34" charset="0"/>
              </a:rPr>
              <a:t>Git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A1866E-E2A9-C7AF-3A66-35AE68BB0E8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41609" y="1431010"/>
            <a:ext cx="11103219" cy="640080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r>
              <a:rPr lang="en-US" sz="9600">
                <a:solidFill>
                  <a:schemeClr val="tx1">
                    <a:lumMod val="75000"/>
                    <a:lumOff val="25000"/>
                  </a:schemeClr>
                </a:solidFill>
              </a:rPr>
              <a:t>Surviving with git:</a:t>
            </a:r>
          </a:p>
          <a:p>
            <a:br>
              <a:rPr lang="en-US"/>
            </a:br>
            <a:endParaRPr lang="en-US"/>
          </a:p>
          <a:p>
            <a:endParaRPr lang="en-US" sz="24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n-US"/>
            </a:br>
            <a:endParaRPr lang="en-US"/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GB" sz="2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568C3-F91F-10CA-E109-D629F19D8A8F}"/>
              </a:ext>
            </a:extLst>
          </p:cNvPr>
          <p:cNvSpPr txBox="1"/>
          <p:nvPr/>
        </p:nvSpPr>
        <p:spPr>
          <a:xfrm>
            <a:off x="541609" y="2940251"/>
            <a:ext cx="113080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-apple-system"/>
              </a:rPr>
              <a:t>Working on </a:t>
            </a:r>
            <a:r>
              <a:rPr lang="en-US" b="0" i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master</a:t>
            </a:r>
            <a:r>
              <a:rPr lang="en-US" b="0" i="0">
                <a:solidFill>
                  <a:srgbClr val="000000"/>
                </a:solidFill>
                <a:effectLst/>
                <a:latin typeface="-apple-system"/>
              </a:rPr>
              <a:t>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status 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Should be clean before you start working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code . 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Working in VS Code on those files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status 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What files were added/removed/changed since last commit?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diff 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What lines were added/removed since last commit?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Creating a new commit (2-step process)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add &lt;file1&gt; &lt;file2&gt;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commit -m </a:t>
            </a:r>
            <a:r>
              <a:rPr lang="en-US" b="0" i="0">
                <a:solidFill>
                  <a:srgbClr val="BA2121"/>
                </a:solidFill>
                <a:effectLst/>
                <a:latin typeface="Courier New" panose="02070309020205020404" pitchFamily="49" charset="0"/>
              </a:rPr>
              <a:t>"A MEANINGFUL MESSAGE"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Pushing commit to GitHub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push origin master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D8F3E5-34C5-41D1-33EE-15BB84C3088C}"/>
              </a:ext>
            </a:extLst>
          </p:cNvPr>
          <p:cNvSpPr txBox="1"/>
          <p:nvPr/>
        </p:nvSpPr>
        <p:spPr>
          <a:xfrm>
            <a:off x="521207" y="1952299"/>
            <a:ext cx="100257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cd ~/code/&lt;YOUR_GITHUB_NICKNAME&gt;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git clone &lt;</a:t>
            </a:r>
            <a:r>
              <a:rPr lang="en-US" b="0" i="0" err="1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ssh_url</a:t>
            </a: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&gt; 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# From GitHub, e.g. </a:t>
            </a:r>
            <a:r>
              <a:rPr lang="en-US" b="0" i="1" err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github.com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b="0" i="1" err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rfalnsari</a:t>
            </a:r>
            <a:r>
              <a:rPr lang="en-US" b="0" i="1">
                <a:solidFill>
                  <a:srgbClr val="408080"/>
                </a:solidFill>
                <a:effectLst/>
                <a:latin typeface="Courier New" panose="02070309020205020404" pitchFamily="49" charset="0"/>
              </a:rPr>
              <a:t>/git</a:t>
            </a:r>
            <a:endParaRPr lang="en-US" b="0" i="0">
              <a:solidFill>
                <a:srgbClr val="212121"/>
              </a:solidFill>
              <a:effectLst/>
              <a:latin typeface="Courier New" panose="02070309020205020404" pitchFamily="49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212121"/>
                </a:solidFill>
                <a:effectLst/>
                <a:latin typeface="Courier New" panose="02070309020205020404" pitchFamily="49" charset="0"/>
              </a:rPr>
              <a:t>cd &lt;repo&gt;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BDC02B6-435E-53CB-915F-9DF952286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A65C6746-4C13-DF0D-CAB8-28CDFBD38329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5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DD470-76A7-BC01-240E-3E1ADCA3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75C173-EF4B-235A-EA95-53A883BF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z="3600" b="1">
                <a:latin typeface="Aptos" panose="020B0004020202020204" pitchFamily="34" charset="0"/>
              </a:rPr>
              <a:t>	</a:t>
            </a:r>
            <a:br>
              <a:rPr lang="en-US" sz="3600" b="1">
                <a:latin typeface="Aptos" panose="020B0004020202020204" pitchFamily="34" charset="0"/>
              </a:rPr>
            </a:br>
            <a:r>
              <a:rPr lang="en-US" sz="3600" b="1">
                <a:latin typeface="Aptos" panose="020B0004020202020204" pitchFamily="34" charset="0"/>
              </a:rPr>
              <a:t>Advanced Git Topics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87502D-C838-4882-3356-297BD7DB2385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541609" y="1431010"/>
            <a:ext cx="11103219" cy="640080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>
                <a:solidFill>
                  <a:schemeClr val="tx1">
                    <a:lumMod val="75000"/>
                    <a:lumOff val="25000"/>
                  </a:schemeClr>
                </a:solidFill>
              </a:rPr>
              <a:t>The following Git concepts will be introduced later in the course, during the project weeks, when you will be working in teams:</a:t>
            </a:r>
          </a:p>
          <a:p>
            <a:endParaRPr 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n-US" sz="1800"/>
            </a:br>
            <a:endParaRPr lang="en-US" sz="1800"/>
          </a:p>
          <a:p>
            <a:endParaRPr lang="en-US" sz="1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n-US" sz="1800"/>
            </a:br>
            <a:endParaRPr lang="en-US" sz="1800"/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GB" sz="1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0F14B-0D67-62F1-6932-724C34FFB477}"/>
              </a:ext>
            </a:extLst>
          </p:cNvPr>
          <p:cNvSpPr txBox="1"/>
          <p:nvPr/>
        </p:nvSpPr>
        <p:spPr>
          <a:xfrm>
            <a:off x="645092" y="2124762"/>
            <a:ext cx="61001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Pull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Merge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Branches &amp; GitHub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Resolving merge conflicts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FBE7AC-4F74-87DF-FAF2-9E0E897401B0}"/>
              </a:ext>
            </a:extLst>
          </p:cNvPr>
          <p:cNvSpPr txBox="1"/>
          <p:nvPr/>
        </p:nvSpPr>
        <p:spPr>
          <a:xfrm>
            <a:off x="645092" y="3889111"/>
            <a:ext cx="6100174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tx1">
                    <a:lumMod val="75000"/>
                    <a:lumOff val="25000"/>
                  </a:schemeClr>
                </a:solidFill>
              </a:rPr>
              <a:t>Set Up Your Device:</a:t>
            </a:r>
            <a:endParaRPr lang="en-SA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9DA29D9-1A88-D446-386D-5D3604DD582F}"/>
              </a:ext>
            </a:extLst>
          </p:cNvPr>
          <p:cNvSpPr txBox="1">
            <a:spLocks/>
          </p:cNvSpPr>
          <p:nvPr/>
        </p:nvSpPr>
        <p:spPr>
          <a:xfrm>
            <a:off x="645092" y="4521123"/>
            <a:ext cx="11880935" cy="15124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macOS: </a:t>
            </a:r>
            <a:r>
              <a:rPr lang="en-US" sz="1600">
                <a:hlinkClick r:id="rId3"/>
              </a:rPr>
              <a:t>https://www.notion.so/Setup-instructions-for-mac-2e75ea763bc88012a4c9f59b5bd92739?source=</a:t>
            </a:r>
            <a:r>
              <a:rPr lang="en-US" sz="1600" err="1">
                <a:hlinkClick r:id="rId3"/>
              </a:rPr>
              <a:t>copy_link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sz="1600" b="1">
                <a:solidFill>
                  <a:schemeClr val="tx1">
                    <a:lumMod val="75000"/>
                    <a:lumOff val="25000"/>
                  </a:schemeClr>
                </a:solidFill>
              </a:rPr>
              <a:t>Windows: 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https://www.notion.so/Setup-instructions-for-Windows-2f15ea763bc880228a34c81ea20380bc?source=copy_link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n-US" sz="100"/>
            </a:br>
            <a:endParaRPr lang="en-US" sz="100"/>
          </a:p>
          <a:p>
            <a:endParaRPr lang="en-US" sz="3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br>
              <a:rPr lang="en-US" sz="100"/>
            </a:br>
            <a:endParaRPr lang="en-US" sz="100"/>
          </a:p>
          <a:p>
            <a:pPr>
              <a:lnSpc>
                <a:spcPct val="100000"/>
              </a:lnSpc>
              <a:spcAft>
                <a:spcPts val="1000"/>
              </a:spcAft>
            </a:pPr>
            <a:endParaRPr lang="en-US" sz="3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5A4616A9-11FE-490E-7B26-5E58F56EE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Computer Engineering Department</a:t>
            </a: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FFD18F94-14B4-A6A5-E821-AF84C9FEE64F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9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Resources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11" y="2614427"/>
            <a:ext cx="9442648" cy="3978275"/>
          </a:xfrm>
        </p:spPr>
        <p:txBody>
          <a:bodyPr>
            <a:normAutofit/>
          </a:bodyPr>
          <a:lstStyle/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2000" u="sng">
                <a:latin typeface="Segoe UI Light" panose="020B0502040204020203" pitchFamily="34" charset="0"/>
                <a:cs typeface="Segoe UI Light" panose="020B0502040204020203" pitchFamily="34" charset="0"/>
                <a:hlinkClick r:id="rId3"/>
              </a:rPr>
              <a:t>GitHub Docs</a:t>
            </a: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Segoe UI Light" panose="020B0502040204020203" pitchFamily="34" charset="0"/>
                <a:cs typeface="Segoe UI Light" panose="020B0502040204020203" pitchFamily="34" charset="0"/>
                <a:hlinkClick r:id="rId4"/>
              </a:rPr>
              <a:t>GitHub Skills</a:t>
            </a: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Segoe UI Light" panose="020B0502040204020203" pitchFamily="34" charset="0"/>
                <a:cs typeface="Segoe UI Light" panose="020B0502040204020203" pitchFamily="34" charset="0"/>
                <a:hlinkClick r:id="rId5"/>
              </a:rPr>
              <a:t>GitHub </a:t>
            </a:r>
            <a:r>
              <a:rPr lang="en-US" sz="2000" err="1">
                <a:latin typeface="Segoe UI Light" panose="020B0502040204020203" pitchFamily="34" charset="0"/>
                <a:cs typeface="Segoe UI Light" panose="020B0502040204020203" pitchFamily="34" charset="0"/>
                <a:hlinkClick r:id="rId5"/>
              </a:rPr>
              <a:t>Deskstop</a:t>
            </a: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2000">
                <a:latin typeface="Segoe UI Light" panose="020B0502040204020203" pitchFamily="34" charset="0"/>
                <a:cs typeface="Segoe UI Light" panose="020B0502040204020203" pitchFamily="34" charset="0"/>
                <a:hlinkClick r:id="rId6"/>
              </a:rPr>
              <a:t>Markdown Language</a:t>
            </a: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lnSpc>
                <a:spcPts val="3600"/>
              </a:lnSpc>
              <a:spcAft>
                <a:spcPts val="0"/>
              </a:spcAft>
              <a:buNone/>
            </a:pPr>
            <a:endParaRPr lang="en-US" sz="20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Picture 1" descr="A black background with blue and white text&#10;&#10;AI-generated content may be incorrect.">
            <a:extLst>
              <a:ext uri="{FF2B5EF4-FFF2-40B4-BE49-F238E27FC236}">
                <a16:creationId xmlns:a16="http://schemas.microsoft.com/office/drawing/2014/main" id="{4B2CEFE1-C8D3-D00F-F67D-8F66C25493B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</a:blip>
          <a:stretch>
            <a:fillRect/>
          </a:stretch>
        </p:blipFill>
        <p:spPr>
          <a:xfrm>
            <a:off x="10735563" y="287469"/>
            <a:ext cx="1185068" cy="76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Application>Microsoft Office PowerPoint</Application>
  <PresentationFormat>Widescreen</PresentationFormat>
  <Slides>21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Custom</vt:lpstr>
      <vt:lpstr>Git, GitHub, and Terminal</vt:lpstr>
      <vt:lpstr>   Terminal</vt:lpstr>
      <vt:lpstr>  Python</vt:lpstr>
      <vt:lpstr>  Python</vt:lpstr>
      <vt:lpstr>What Is Version Control?</vt:lpstr>
      <vt:lpstr>PowerPoint Presentation</vt:lpstr>
      <vt:lpstr>What Is Git?</vt:lpstr>
      <vt:lpstr>Key Git Concepts</vt:lpstr>
      <vt:lpstr>PowerPoint Presentation</vt:lpstr>
      <vt:lpstr>Repository (Repo)</vt:lpstr>
      <vt:lpstr>Commit</vt:lpstr>
      <vt:lpstr>Clone</vt:lpstr>
      <vt:lpstr>Push</vt:lpstr>
      <vt:lpstr>What Is GitHub?</vt:lpstr>
      <vt:lpstr>Git vs GitHub</vt:lpstr>
      <vt:lpstr>GitHub Features</vt:lpstr>
      <vt:lpstr>Forking</vt:lpstr>
      <vt:lpstr>Basic Git Workflow</vt:lpstr>
      <vt:lpstr>   Git</vt:lpstr>
      <vt:lpstr>  Advanced Git Topics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somiah khalid aljaafary</dc:creator>
  <cp:keywords/>
  <cp:revision>3</cp:revision>
  <dcterms:created xsi:type="dcterms:W3CDTF">2026-01-14T10:17:57Z</dcterms:created>
  <dcterms:modified xsi:type="dcterms:W3CDTF">2026-01-25T15:39:48Z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b196578f-6ae1-40cd-93dd-1a3b7a6ede66_Enabled">
    <vt:lpwstr>true</vt:lpwstr>
  </property>
  <property fmtid="{D5CDD505-2E9C-101B-9397-08002B2CF9AE}" pid="4" name="MSIP_Label_b196578f-6ae1-40cd-93dd-1a3b7a6ede66_SetDate">
    <vt:lpwstr>2026-01-14T11:59:34Z</vt:lpwstr>
  </property>
  <property fmtid="{D5CDD505-2E9C-101B-9397-08002B2CF9AE}" pid="5" name="MSIP_Label_b196578f-6ae1-40cd-93dd-1a3b7a6ede66_Method">
    <vt:lpwstr>Standard</vt:lpwstr>
  </property>
  <property fmtid="{D5CDD505-2E9C-101B-9397-08002B2CF9AE}" pid="6" name="MSIP_Label_b196578f-6ae1-40cd-93dd-1a3b7a6ede66_Name">
    <vt:lpwstr>Public - عام</vt:lpwstr>
  </property>
  <property fmtid="{D5CDD505-2E9C-101B-9397-08002B2CF9AE}" pid="7" name="MSIP_Label_b196578f-6ae1-40cd-93dd-1a3b7a6ede66_SiteId">
    <vt:lpwstr>2c86bbfc-8d04-41ff-a83a-942f075e0f60</vt:lpwstr>
  </property>
  <property fmtid="{D5CDD505-2E9C-101B-9397-08002B2CF9AE}" pid="8" name="MSIP_Label_b196578f-6ae1-40cd-93dd-1a3b7a6ede66_ActionId">
    <vt:lpwstr>bef51941-c3e3-40ac-8b44-710ca6fe96d3</vt:lpwstr>
  </property>
  <property fmtid="{D5CDD505-2E9C-101B-9397-08002B2CF9AE}" pid="9" name="MSIP_Label_b196578f-6ae1-40cd-93dd-1a3b7a6ede66_ContentBits">
    <vt:lpwstr>0</vt:lpwstr>
  </property>
  <property fmtid="{D5CDD505-2E9C-101B-9397-08002B2CF9AE}" pid="10" name="MSIP_Label_b196578f-6ae1-40cd-93dd-1a3b7a6ede66_Tag">
    <vt:lpwstr>10, 3, 0, 1</vt:lpwstr>
  </property>
</Properties>
</file>